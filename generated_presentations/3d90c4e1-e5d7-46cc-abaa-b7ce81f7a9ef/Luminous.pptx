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 sz="4400">
                <a:solidFill>
                  <a:srgbClr val="186433"/>
                </a:solidFill>
              </a:rPr>
              <a:t>Word of the Week: Luminous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3200">
                <a:solidFill>
                  <a:srgbClr val="186433"/>
                </a:solidFill>
              </a:rPr>
              <a:t>Spelling Focus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</a:pPr>
            <a:r>
              <a:rPr sz="2400">
                <a:solidFill>
                  <a:srgbClr val="000000"/>
                </a:solidFill>
              </a:rPr>
              <a:t>Producing or reflecting light.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Usage in a Sentence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</a:pPr>
            <a:r>
              <a:rPr sz="2400">
                <a:solidFill>
                  <a:srgbClr val="000000"/>
                </a:solidFill>
              </a:rPr>
              <a:t>The luminous stars twinkled in the night sky.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Word Origin &amp; Parts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</a:pPr>
            <a:r>
              <a:rPr sz="2400">
                <a:solidFill>
                  <a:srgbClr val="000000"/>
                </a:solidFill>
              </a:rPr>
              <a:t>Luminous comes from the Latin word 'lumen' meaning light. The '-ous' ending makes it an adjective, so we can say 'luminous light' or 'luminous stars'.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Synonyms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</a:pPr>
            <a:r>
              <a:rPr sz="2400">
                <a:solidFill>
                  <a:srgbClr val="186433"/>
                </a:solidFill>
              </a:rPr>
              <a:t>radiant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186433"/>
                </a:solidFill>
              </a:rPr>
              <a:t>glowing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186433"/>
                </a:solidFill>
              </a:rPr>
              <a:t>bright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186433"/>
                </a:solidFill>
              </a:rPr>
              <a:t>gleaming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186433"/>
                </a:solidFill>
              </a:rPr>
              <a:t>shining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Antonyms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</a:pPr>
            <a:r>
              <a:rPr sz="2400">
                <a:solidFill>
                  <a:srgbClr val="B91C1C"/>
                </a:solidFill>
              </a:rPr>
              <a:t>dark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B91C1C"/>
                </a:solidFill>
              </a:rPr>
              <a:t>dim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B91C1C"/>
                </a:solidFill>
              </a:rPr>
              <a:t>shadowy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B91C1C"/>
                </a:solidFill>
              </a:rPr>
              <a:t>obscure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