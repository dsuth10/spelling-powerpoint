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9295" r:id="rId2"/>
    <p:sldId id="9281" r:id="rId3"/>
    <p:sldId id="9291" r:id="rId4"/>
    <p:sldId id="91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8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ECEAD-EEC1-47DC-8632-DD1DE04B78C9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D27CDB-FF45-4B83-9CC2-D2E5869914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1942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EFA9-53FC-6F5A-B4C1-1E12FC022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D016FA-16F1-2EE6-26D2-DF1F7FA8E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FCC34-F381-669C-69E4-FC7BE6FE6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F3873-EC90-42D6-3539-6BDF4D417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03852-1EAA-CED7-2BBE-DC24819F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3638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63C17-554B-0818-7117-ED9427160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F78DA-3A8B-4131-4112-BB889BFFF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73C95-976E-1B34-472E-9875170CE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DA6D2-AB0B-C99E-D5D4-984E552FA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945E4-3A44-F675-FC99-803BD99A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8772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C99E1-C554-BC33-05A0-7A0BA9554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A7FB8-B77C-2A03-6B7A-16D5DD28F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E585C-0E73-A134-C57A-7482FEBC2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E4DB9-2D78-91AC-412A-FA6B61B03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5C9F6-91A1-B6C4-42FB-6A5F700E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5647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3DBD6-F737-3F6E-6FF9-A80704ACF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D81A2-DA63-AABB-E9EC-91A7DDF7A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8EB8F-EC5F-A99F-52A3-A108C69E7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F0CC5-A301-457C-6CBF-DAD515B38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85C2A-6F4A-7147-182E-397202619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A69ED-EF5A-66B1-590D-641FBC9AD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5423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8BB04-5890-04E3-EB28-0AE116CB0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964A6-9957-A028-42EE-C8EA076CB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59F0A-EDE6-F039-99CD-A0CCFEAF2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8C57FC-ACE9-D371-3F7B-547BEFD251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EFB4AA-5301-56F6-47DB-867BDFABA4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FCD237-41CD-CAF2-9F35-466980306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96308-B164-617E-27B2-CEF0332C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A6B325-6A5D-CFE5-E931-22BC994EB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7557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E6734-8E4B-3E7C-701E-976A7EB13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31D64E-3E42-8505-76C7-C02A020DF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76E668-C558-6B1F-148A-C5006B518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046BD7-805F-C83B-F98C-CF14D18F4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7840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0BF2C7-BE84-AE41-433D-BD5C172F2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F9ADA6-9A41-AC94-12B2-850131D72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FAADE-DF36-3DB6-3813-4CB0B6923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1147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1D47-07D3-8C78-F83F-4D998D548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8D2F2-ACA6-1926-5EBD-A5691B4F6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DD379-2359-CAB7-BE6A-6DAF804E4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527A8-943B-7C23-7876-9EFB86060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E612C-E4F6-BEB2-E392-307E901C3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88117-4666-D293-7C8E-DAF5A35C1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4763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63778-B752-539E-4BCC-5E72261DC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F7FB32-6EA1-57C8-2C7E-C1373610BB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B2C39-F728-EBB3-7DF8-069BB2C54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49245-8009-C8C6-2DEA-FED112963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D21B1-CE84-65CC-7109-0F00F6C85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76C23-CDF1-697F-90BD-562761969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3908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20EB-ADD0-02D0-717C-E7EDDD5FE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A8A46-83F0-BECB-FEBD-C2A493243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F679C-F7DD-0528-097B-0E41749AE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5B8F9-9C7A-7A0A-F4F1-9393EBA30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33D02-8887-6914-E792-A9612DBE7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0543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F90488-7D4C-62E6-3B10-759318BC7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C0D94E-B622-7E27-2DD3-9CFDAE837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8C15D-CD0B-C2A6-864D-F2B2777DA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7565C-CE7E-471B-E738-42C9A8FCB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F3A01-A037-03F8-1040-E58F9D9A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24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10D088-12CE-20E3-6218-B5DE025D3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71468-AEF3-9E94-D020-50A606DF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82F47-1239-0852-0788-DFB5BD970E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3CAE88-3936-4736-B8B1-B802B2BA669B}" type="datetimeFigureOut">
              <a:rPr lang="en-AU" smtClean="0"/>
              <a:t>9/11/2025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2974D-B912-4807-795A-F81009B67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53058-59EE-2F75-9E07-FD94A8251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A23327-60C4-49F5-993D-5FA4C0701A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638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hape&#10;&#10;Description automatically generated">
            <a:extLst>
              <a:ext uri="{FF2B5EF4-FFF2-40B4-BE49-F238E27FC236}">
                <a16:creationId xmlns:a16="http://schemas.microsoft.com/office/drawing/2014/main" id="{A7BD080A-94B9-4DA8-929B-E53D6DFDDBAB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292" b="19936"/>
          <a:stretch/>
        </p:blipFill>
        <p:spPr>
          <a:xfrm>
            <a:off x="0" y="5994400"/>
            <a:ext cx="3647440" cy="863600"/>
          </a:xfrm>
          <a:prstGeom prst="rect">
            <a:avLst/>
          </a:prstGeom>
          <a:solidFill>
            <a:srgbClr val="00B050"/>
          </a:soli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DDD9BD-331E-4977-9DA7-59B0FD741F41}"/>
              </a:ext>
            </a:extLst>
          </p:cNvPr>
          <p:cNvSpPr/>
          <p:nvPr/>
        </p:nvSpPr>
        <p:spPr>
          <a:xfrm>
            <a:off x="3647440" y="5994400"/>
            <a:ext cx="8537808" cy="863600"/>
          </a:xfrm>
          <a:prstGeom prst="rect">
            <a:avLst/>
          </a:prstGeom>
          <a:solidFill>
            <a:srgbClr val="186433"/>
          </a:solidFill>
          <a:ln>
            <a:solidFill>
              <a:srgbClr val="186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A6DAD4-98BD-48B0-A158-DA7939C51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780" y="5468638"/>
            <a:ext cx="1733828" cy="13766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954F75-2C4A-440B-B600-16AC5600AF44}"/>
              </a:ext>
            </a:extLst>
          </p:cNvPr>
          <p:cNvSpPr/>
          <p:nvPr/>
        </p:nvSpPr>
        <p:spPr>
          <a:xfrm>
            <a:off x="1506536" y="1296737"/>
            <a:ext cx="10630051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endParaRPr lang="en-AU" sz="2800" dirty="0">
              <a:solidFill>
                <a:srgbClr val="186433"/>
              </a:solidFill>
            </a:endParaRPr>
          </a:p>
          <a:p>
            <a:pPr lvl="0" algn="ctr">
              <a:defRPr/>
            </a:pPr>
            <a:endParaRPr lang="en-AU" sz="2400" b="1" dirty="0">
              <a:solidFill>
                <a:srgbClr val="186433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5CCE32-11C9-4DDF-8720-E6E6FC410143}"/>
              </a:ext>
            </a:extLst>
          </p:cNvPr>
          <p:cNvSpPr/>
          <p:nvPr/>
        </p:nvSpPr>
        <p:spPr>
          <a:xfrm>
            <a:off x="258162" y="196070"/>
            <a:ext cx="1152484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>
                <a:ln w="0"/>
                <a:solidFill>
                  <a:srgbClr val="18643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Revision</a:t>
            </a:r>
            <a:endParaRPr kumimoji="0" lang="en-US" sz="4400" b="0" i="0" u="none" strike="noStrike" kern="1200" cap="none" spc="0" normalizeH="0" baseline="0" noProof="0" dirty="0">
              <a:ln w="0"/>
              <a:solidFill>
                <a:srgbClr val="4472C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25247B-ED79-4662-B36F-F7D64F83660B}"/>
              </a:ext>
            </a:extLst>
          </p:cNvPr>
          <p:cNvSpPr txBox="1"/>
          <p:nvPr/>
        </p:nvSpPr>
        <p:spPr>
          <a:xfrm>
            <a:off x="1120120" y="1012954"/>
            <a:ext cx="1028991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chemeClr val="accent2"/>
                </a:solidFill>
                <a:latin typeface="Eras Bold ITC" panose="020B0907030504020204" pitchFamily="34" charset="0"/>
              </a:rPr>
              <a:t>Acknowledge: </a:t>
            </a:r>
            <a:r>
              <a:rPr lang="en-AU" sz="2800" dirty="0"/>
              <a:t>To show that you know something (for example, by nodding or speaking), to declare that something is true, or to accept what is claimed.</a:t>
            </a:r>
          </a:p>
          <a:p>
            <a:endParaRPr lang="en-AU" sz="2800" dirty="0">
              <a:solidFill>
                <a:schemeClr val="accent2"/>
              </a:solidFill>
              <a:latin typeface="Eras Bold ITC" panose="020B0907030504020204" pitchFamily="34" charset="0"/>
            </a:endParaRPr>
          </a:p>
          <a:p>
            <a:r>
              <a:rPr lang="en-AU" sz="2800" dirty="0">
                <a:solidFill>
                  <a:schemeClr val="accent2"/>
                </a:solidFill>
                <a:latin typeface="Eras Bold ITC" panose="020B0907030504020204" pitchFamily="34" charset="0"/>
              </a:rPr>
              <a:t>Ravine:</a:t>
            </a:r>
            <a:r>
              <a:rPr lang="en-AU" sz="2800" b="1" dirty="0"/>
              <a:t> </a:t>
            </a:r>
            <a:r>
              <a:rPr lang="en-AU" sz="2800" dirty="0"/>
              <a:t>A </a:t>
            </a:r>
            <a:r>
              <a:rPr lang="en-AU" sz="2800" b="1" dirty="0"/>
              <a:t>ravine</a:t>
            </a:r>
            <a:r>
              <a:rPr lang="en-AU" sz="2800" dirty="0"/>
              <a:t> is a deep, narrow valley with steep sides, often formed by running water like a small river or stream.</a:t>
            </a:r>
            <a:br>
              <a:rPr lang="en-AU" sz="2800" dirty="0"/>
            </a:br>
            <a:br>
              <a:rPr lang="en-AU" sz="2800" dirty="0"/>
            </a:br>
            <a:r>
              <a:rPr lang="en-US" sz="2800" dirty="0">
                <a:solidFill>
                  <a:schemeClr val="accent2"/>
                </a:solidFill>
                <a:latin typeface="Eras Bold ITC" panose="020B0907030504020204" pitchFamily="34" charset="0"/>
              </a:rPr>
              <a:t>Adjourn: </a:t>
            </a:r>
            <a:r>
              <a:rPr lang="en-US" sz="2800" dirty="0"/>
              <a:t>To suspend a meeting, court case, or other formal proceeding, either for a short break or until a later time or date, with the intention of resuming it.</a:t>
            </a:r>
            <a:endParaRPr lang="en-AU" sz="2800" dirty="0">
              <a:solidFill>
                <a:schemeClr val="accent2"/>
              </a:solidFill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746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hape&#10;&#10;Description automatically generated">
            <a:extLst>
              <a:ext uri="{FF2B5EF4-FFF2-40B4-BE49-F238E27FC236}">
                <a16:creationId xmlns:a16="http://schemas.microsoft.com/office/drawing/2014/main" id="{A7BD080A-94B9-4DA8-929B-E53D6DFDDBAB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292" b="19936"/>
          <a:stretch/>
        </p:blipFill>
        <p:spPr>
          <a:xfrm>
            <a:off x="0" y="5994400"/>
            <a:ext cx="3647440" cy="863600"/>
          </a:xfrm>
          <a:prstGeom prst="rect">
            <a:avLst/>
          </a:prstGeom>
          <a:solidFill>
            <a:srgbClr val="00B050"/>
          </a:soli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DDD9BD-331E-4977-9DA7-59B0FD741F41}"/>
              </a:ext>
            </a:extLst>
          </p:cNvPr>
          <p:cNvSpPr/>
          <p:nvPr/>
        </p:nvSpPr>
        <p:spPr>
          <a:xfrm>
            <a:off x="3647440" y="5994400"/>
            <a:ext cx="8537808" cy="863600"/>
          </a:xfrm>
          <a:prstGeom prst="rect">
            <a:avLst/>
          </a:prstGeom>
          <a:solidFill>
            <a:srgbClr val="186433"/>
          </a:solidFill>
          <a:ln>
            <a:solidFill>
              <a:srgbClr val="186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A6DAD4-98BD-48B0-A158-DA7939C51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780" y="5468638"/>
            <a:ext cx="1733828" cy="13766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954F75-2C4A-440B-B600-16AC5600AF44}"/>
              </a:ext>
            </a:extLst>
          </p:cNvPr>
          <p:cNvSpPr/>
          <p:nvPr/>
        </p:nvSpPr>
        <p:spPr>
          <a:xfrm>
            <a:off x="1506536" y="1296737"/>
            <a:ext cx="10630051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endParaRPr lang="en-AU" sz="2800" dirty="0">
              <a:solidFill>
                <a:srgbClr val="186433"/>
              </a:solidFill>
            </a:endParaRPr>
          </a:p>
          <a:p>
            <a:pPr lvl="0" algn="ctr">
              <a:defRPr/>
            </a:pPr>
            <a:endParaRPr lang="en-AU" sz="2400" b="1" dirty="0">
              <a:solidFill>
                <a:srgbClr val="18643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0455F-BD4F-4BCD-880C-CD60D3A788CF}"/>
              </a:ext>
            </a:extLst>
          </p:cNvPr>
          <p:cNvSpPr txBox="1"/>
          <p:nvPr/>
        </p:nvSpPr>
        <p:spPr>
          <a:xfrm>
            <a:off x="2700391" y="55803"/>
            <a:ext cx="6791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Our Word of the Week is… </a:t>
            </a:r>
            <a:r>
              <a:rPr lang="en-AU" sz="3200" dirty="0">
                <a:solidFill>
                  <a:schemeClr val="accent2"/>
                </a:solidFill>
                <a:latin typeface="Eras Bold ITC" panose="020B0907030504020204" pitchFamily="34" charset="0"/>
              </a:rPr>
              <a:t>contentious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CCD46-AC45-47E3-B54D-8A3B538A88D8}"/>
              </a:ext>
            </a:extLst>
          </p:cNvPr>
          <p:cNvSpPr txBox="1"/>
          <p:nvPr/>
        </p:nvSpPr>
        <p:spPr>
          <a:xfrm rot="10800000" flipH="1" flipV="1">
            <a:off x="893852" y="514083"/>
            <a:ext cx="10630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2"/>
                </a:solidFill>
              </a:rPr>
              <a:t>phonemes: </a:t>
            </a:r>
            <a:r>
              <a:rPr lang="fr-FR" sz="3200" dirty="0" err="1"/>
              <a:t>c</a:t>
            </a:r>
            <a:r>
              <a:rPr lang="fr-FR" sz="3200" dirty="0" err="1">
                <a:solidFill>
                  <a:srgbClr val="FF0000"/>
                </a:solidFill>
              </a:rPr>
              <a:t>on</a:t>
            </a:r>
            <a:r>
              <a:rPr lang="fr-FR" sz="3200" dirty="0" err="1"/>
              <a:t>t</a:t>
            </a:r>
            <a:r>
              <a:rPr lang="fr-FR" sz="3200" dirty="0" err="1">
                <a:solidFill>
                  <a:srgbClr val="FF0000"/>
                </a:solidFill>
              </a:rPr>
              <a:t>en</a:t>
            </a:r>
            <a:r>
              <a:rPr lang="fr-FR" sz="3200" dirty="0" err="1"/>
              <a:t>t</a:t>
            </a:r>
            <a:r>
              <a:rPr lang="fr-FR" sz="3200" dirty="0" err="1">
                <a:solidFill>
                  <a:srgbClr val="FF0000"/>
                </a:solidFill>
              </a:rPr>
              <a:t>ious</a:t>
            </a:r>
            <a:endParaRPr lang="en-AU" sz="32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EA4FF0-427E-4A24-8724-43435B49A3D0}"/>
              </a:ext>
            </a:extLst>
          </p:cNvPr>
          <p:cNvSpPr txBox="1"/>
          <p:nvPr/>
        </p:nvSpPr>
        <p:spPr>
          <a:xfrm>
            <a:off x="885120" y="1743013"/>
            <a:ext cx="112427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2"/>
                </a:solidFill>
              </a:rPr>
              <a:t>Sentence: </a:t>
            </a:r>
            <a:r>
              <a:rPr lang="en-US" sz="2800" dirty="0"/>
              <a:t>The </a:t>
            </a:r>
            <a:r>
              <a:rPr lang="en-US" sz="2800" dirty="0">
                <a:solidFill>
                  <a:srgbClr val="FF0000"/>
                </a:solidFill>
              </a:rPr>
              <a:t>contentious</a:t>
            </a:r>
            <a:r>
              <a:rPr lang="en-US" sz="2800" dirty="0"/>
              <a:t> debate about school uniforms divided the community and sparked heated discussions at the town hall meeting.</a:t>
            </a:r>
            <a:endParaRPr lang="en-A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5CF37B-0520-4507-9745-189C6F330C55}"/>
              </a:ext>
            </a:extLst>
          </p:cNvPr>
          <p:cNvSpPr txBox="1"/>
          <p:nvPr/>
        </p:nvSpPr>
        <p:spPr>
          <a:xfrm>
            <a:off x="893852" y="2912252"/>
            <a:ext cx="9453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2"/>
                </a:solidFill>
              </a:rPr>
              <a:t>Part of speech: </a:t>
            </a:r>
            <a:r>
              <a:rPr lang="en-AU" sz="2800" dirty="0"/>
              <a:t>Adjective</a:t>
            </a:r>
            <a:r>
              <a:rPr lang="en-AU" sz="2800" dirty="0">
                <a:solidFill>
                  <a:schemeClr val="accent2"/>
                </a:solidFill>
              </a:rPr>
              <a:t>	</a:t>
            </a:r>
            <a:r>
              <a:rPr lang="en-AU" sz="2800" dirty="0"/>
              <a:t>		</a:t>
            </a:r>
            <a:endParaRPr lang="en-AU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8A7EFA-580F-4067-9B05-CAF56202699A}"/>
              </a:ext>
            </a:extLst>
          </p:cNvPr>
          <p:cNvSpPr txBox="1"/>
          <p:nvPr/>
        </p:nvSpPr>
        <p:spPr>
          <a:xfrm rot="16200000">
            <a:off x="-2496106" y="2745650"/>
            <a:ext cx="61771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4800" dirty="0">
                <a:solidFill>
                  <a:schemeClr val="accent6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Word of the Week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1A00CC-FA9E-4C81-BFCC-CD1C136C2871}"/>
              </a:ext>
            </a:extLst>
          </p:cNvPr>
          <p:cNvSpPr txBox="1"/>
          <p:nvPr/>
        </p:nvSpPr>
        <p:spPr>
          <a:xfrm rot="10800000" flipH="1" flipV="1">
            <a:off x="950914" y="1110606"/>
            <a:ext cx="10630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2"/>
                </a:solidFill>
              </a:rPr>
              <a:t>syllables: </a:t>
            </a:r>
            <a:r>
              <a:rPr lang="en-AU" dirty="0">
                <a:solidFill>
                  <a:srgbClr val="CC00FF"/>
                </a:solidFill>
              </a:rPr>
              <a:t>	</a:t>
            </a:r>
            <a:r>
              <a:rPr lang="en-AU" sz="3200" dirty="0"/>
              <a:t>con/ten/</a:t>
            </a:r>
            <a:r>
              <a:rPr lang="en-AU" sz="3200" dirty="0" err="1"/>
              <a:t>tious</a:t>
            </a:r>
            <a:endParaRPr lang="en-AU" sz="3200" u="sn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C5CC15-D9C1-467E-8B2A-C79117F8416C}"/>
              </a:ext>
            </a:extLst>
          </p:cNvPr>
          <p:cNvSpPr txBox="1"/>
          <p:nvPr/>
        </p:nvSpPr>
        <p:spPr>
          <a:xfrm>
            <a:off x="950914" y="3624685"/>
            <a:ext cx="108035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2"/>
                </a:solidFill>
              </a:rPr>
              <a:t>Morphology: </a:t>
            </a:r>
            <a:r>
              <a:rPr lang="en-AU" sz="2800" dirty="0">
                <a:solidFill>
                  <a:srgbClr val="CC00FF"/>
                </a:solidFill>
              </a:rPr>
              <a:t>  </a:t>
            </a:r>
          </a:p>
          <a:p>
            <a:r>
              <a:rPr lang="en-US" sz="2800" dirty="0">
                <a:solidFill>
                  <a:srgbClr val="FF0000"/>
                </a:solidFill>
              </a:rPr>
              <a:t>con- </a:t>
            </a:r>
            <a:r>
              <a:rPr lang="en-US" sz="2800" dirty="0"/>
              <a:t>"together/with" (Latin)</a:t>
            </a:r>
          </a:p>
          <a:p>
            <a:r>
              <a:rPr lang="en-US" sz="2800" dirty="0">
                <a:solidFill>
                  <a:srgbClr val="FF0000"/>
                </a:solidFill>
              </a:rPr>
              <a:t>Tend "to stretch" (Latin)</a:t>
            </a:r>
          </a:p>
          <a:p>
            <a:r>
              <a:rPr lang="en-US" sz="2800" dirty="0" err="1">
                <a:solidFill>
                  <a:srgbClr val="FF0000"/>
                </a:solidFill>
              </a:rPr>
              <a:t>Contentio</a:t>
            </a:r>
            <a:r>
              <a:rPr lang="en-US" sz="2800" dirty="0">
                <a:solidFill>
                  <a:srgbClr val="FF0000"/>
                </a:solidFill>
              </a:rPr>
              <a:t> "strife, contest" (Latin)</a:t>
            </a:r>
          </a:p>
          <a:p>
            <a:pPr algn="ctr"/>
            <a:r>
              <a:rPr lang="en-US" sz="2800" dirty="0"/>
              <a:t>literally "to stretch together in conflict"</a:t>
            </a:r>
            <a:r>
              <a:rPr lang="en-AU" sz="2800" dirty="0"/>
              <a:t>		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146788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hape&#10;&#10;Description automatically generated">
            <a:extLst>
              <a:ext uri="{FF2B5EF4-FFF2-40B4-BE49-F238E27FC236}">
                <a16:creationId xmlns:a16="http://schemas.microsoft.com/office/drawing/2014/main" id="{A7BD080A-94B9-4DA8-929B-E53D6DFDDBAB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292" b="19936"/>
          <a:stretch/>
        </p:blipFill>
        <p:spPr>
          <a:xfrm>
            <a:off x="0" y="5994400"/>
            <a:ext cx="3647440" cy="863600"/>
          </a:xfrm>
          <a:prstGeom prst="rect">
            <a:avLst/>
          </a:prstGeom>
          <a:solidFill>
            <a:srgbClr val="00B050"/>
          </a:soli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DDD9BD-331E-4977-9DA7-59B0FD741F41}"/>
              </a:ext>
            </a:extLst>
          </p:cNvPr>
          <p:cNvSpPr/>
          <p:nvPr/>
        </p:nvSpPr>
        <p:spPr>
          <a:xfrm>
            <a:off x="3647440" y="5994400"/>
            <a:ext cx="8537808" cy="863600"/>
          </a:xfrm>
          <a:prstGeom prst="rect">
            <a:avLst/>
          </a:prstGeom>
          <a:solidFill>
            <a:srgbClr val="186433"/>
          </a:solidFill>
          <a:ln>
            <a:solidFill>
              <a:srgbClr val="186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A6DAD4-98BD-48B0-A158-DA7939C51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780" y="5468638"/>
            <a:ext cx="1733828" cy="13766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954F75-2C4A-440B-B600-16AC5600AF44}"/>
              </a:ext>
            </a:extLst>
          </p:cNvPr>
          <p:cNvSpPr/>
          <p:nvPr/>
        </p:nvSpPr>
        <p:spPr>
          <a:xfrm>
            <a:off x="1506536" y="1296737"/>
            <a:ext cx="10630051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endParaRPr lang="en-AU" sz="2800" dirty="0">
              <a:solidFill>
                <a:srgbClr val="186433"/>
              </a:solidFill>
            </a:endParaRPr>
          </a:p>
          <a:p>
            <a:pPr lvl="0" algn="ctr">
              <a:defRPr/>
            </a:pPr>
            <a:endParaRPr lang="en-AU" sz="2400" b="1" dirty="0">
              <a:solidFill>
                <a:srgbClr val="18643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0455F-BD4F-4BCD-880C-CD60D3A788CF}"/>
              </a:ext>
            </a:extLst>
          </p:cNvPr>
          <p:cNvSpPr txBox="1"/>
          <p:nvPr/>
        </p:nvSpPr>
        <p:spPr>
          <a:xfrm>
            <a:off x="2700391" y="457959"/>
            <a:ext cx="6791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Our Word of the Week is… </a:t>
            </a:r>
            <a:r>
              <a:rPr lang="en-AU" sz="3200" dirty="0">
                <a:solidFill>
                  <a:schemeClr val="accent2"/>
                </a:solidFill>
                <a:latin typeface="Eras Bold ITC" panose="020B0907030504020204" pitchFamily="34" charset="0"/>
              </a:rPr>
              <a:t>contentious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5CF37B-0520-4507-9745-189C6F330C55}"/>
              </a:ext>
            </a:extLst>
          </p:cNvPr>
          <p:cNvSpPr txBox="1"/>
          <p:nvPr/>
        </p:nvSpPr>
        <p:spPr>
          <a:xfrm>
            <a:off x="1109609" y="1911796"/>
            <a:ext cx="98220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2"/>
                </a:solidFill>
              </a:rPr>
              <a:t>What does it mean? </a:t>
            </a:r>
            <a:r>
              <a:rPr lang="en-US" sz="2800" dirty="0">
                <a:solidFill>
                  <a:srgbClr val="FF0000"/>
                </a:solidFill>
              </a:rPr>
              <a:t>contentious</a:t>
            </a:r>
          </a:p>
          <a:p>
            <a:r>
              <a:rPr lang="en-US" sz="2800" dirty="0"/>
              <a:t>(adjective) — causing or likely to cause disagreement or </a:t>
            </a:r>
            <a:r>
              <a:rPr lang="en-US" sz="2800" dirty="0" err="1"/>
              <a:t>argument;controversial</a:t>
            </a:r>
            <a:r>
              <a:rPr lang="en-US" sz="2800" dirty="0"/>
              <a:t>; or inclined to argue or quarrel.</a:t>
            </a:r>
            <a:r>
              <a:rPr lang="en-AU" sz="2800" dirty="0"/>
              <a:t>		</a:t>
            </a:r>
            <a:endParaRPr lang="en-AU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8A7EFA-580F-4067-9B05-CAF56202699A}"/>
              </a:ext>
            </a:extLst>
          </p:cNvPr>
          <p:cNvSpPr txBox="1"/>
          <p:nvPr/>
        </p:nvSpPr>
        <p:spPr>
          <a:xfrm rot="16200000">
            <a:off x="-2496106" y="2745650"/>
            <a:ext cx="61771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4800" dirty="0">
                <a:solidFill>
                  <a:schemeClr val="accent6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Word of the Week</a:t>
            </a:r>
          </a:p>
        </p:txBody>
      </p:sp>
    </p:spTree>
    <p:extLst>
      <p:ext uri="{BB962C8B-B14F-4D97-AF65-F5344CB8AC3E}">
        <p14:creationId xmlns:p14="http://schemas.microsoft.com/office/powerpoint/2010/main" val="94649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hape&#10;&#10;Description automatically generated">
            <a:extLst>
              <a:ext uri="{FF2B5EF4-FFF2-40B4-BE49-F238E27FC236}">
                <a16:creationId xmlns:a16="http://schemas.microsoft.com/office/drawing/2014/main" id="{A7BD080A-94B9-4DA8-929B-E53D6DFDDBAB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292" b="19936"/>
          <a:stretch/>
        </p:blipFill>
        <p:spPr>
          <a:xfrm>
            <a:off x="0" y="5994400"/>
            <a:ext cx="3647440" cy="863600"/>
          </a:xfrm>
          <a:prstGeom prst="rect">
            <a:avLst/>
          </a:prstGeom>
          <a:solidFill>
            <a:srgbClr val="00B050"/>
          </a:soli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CDDD9BD-331E-4977-9DA7-59B0FD741F41}"/>
              </a:ext>
            </a:extLst>
          </p:cNvPr>
          <p:cNvSpPr/>
          <p:nvPr/>
        </p:nvSpPr>
        <p:spPr>
          <a:xfrm>
            <a:off x="3647440" y="5994400"/>
            <a:ext cx="8537808" cy="863600"/>
          </a:xfrm>
          <a:prstGeom prst="rect">
            <a:avLst/>
          </a:prstGeom>
          <a:solidFill>
            <a:srgbClr val="186433"/>
          </a:solidFill>
          <a:ln>
            <a:solidFill>
              <a:srgbClr val="1864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A6DAD4-98BD-48B0-A158-DA7939C51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780" y="5468638"/>
            <a:ext cx="1733828" cy="13766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954F75-2C4A-440B-B600-16AC5600AF44}"/>
              </a:ext>
            </a:extLst>
          </p:cNvPr>
          <p:cNvSpPr/>
          <p:nvPr/>
        </p:nvSpPr>
        <p:spPr>
          <a:xfrm>
            <a:off x="1614198" y="2090172"/>
            <a:ext cx="278204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AU" sz="2800" dirty="0">
                <a:solidFill>
                  <a:srgbClr val="186433"/>
                </a:solidFill>
              </a:rPr>
              <a:t>argumentative</a:t>
            </a:r>
          </a:p>
          <a:p>
            <a:pPr lvl="0" algn="ctr">
              <a:defRPr/>
            </a:pPr>
            <a:r>
              <a:rPr lang="en-AU" sz="2800" dirty="0">
                <a:solidFill>
                  <a:srgbClr val="186433"/>
                </a:solidFill>
              </a:rPr>
              <a:t>combative</a:t>
            </a:r>
          </a:p>
          <a:p>
            <a:pPr lvl="0" algn="ctr">
              <a:defRPr/>
            </a:pPr>
            <a:r>
              <a:rPr lang="en-AU" sz="2800" dirty="0">
                <a:solidFill>
                  <a:srgbClr val="186433"/>
                </a:solidFill>
              </a:rPr>
              <a:t>controversial</a:t>
            </a:r>
          </a:p>
          <a:p>
            <a:pPr lvl="0" algn="ctr">
              <a:defRPr/>
            </a:pPr>
            <a:r>
              <a:rPr lang="en-AU" sz="2800" dirty="0">
                <a:solidFill>
                  <a:srgbClr val="186433"/>
                </a:solidFill>
              </a:rPr>
              <a:t>pugnacious</a:t>
            </a:r>
          </a:p>
          <a:p>
            <a:pPr lvl="0" algn="ctr">
              <a:defRPr/>
            </a:pPr>
            <a:r>
              <a:rPr lang="en-AU" sz="2800" dirty="0">
                <a:solidFill>
                  <a:srgbClr val="186433"/>
                </a:solidFill>
              </a:rPr>
              <a:t>belligerent</a:t>
            </a:r>
          </a:p>
          <a:p>
            <a:pPr lvl="0" algn="ctr">
              <a:defRPr/>
            </a:pPr>
            <a:r>
              <a:rPr lang="en-AU" sz="2800" dirty="0">
                <a:solidFill>
                  <a:srgbClr val="186433"/>
                </a:solidFill>
              </a:rPr>
              <a:t>fractious</a:t>
            </a:r>
          </a:p>
          <a:p>
            <a:pPr lvl="0" algn="ctr">
              <a:defRPr/>
            </a:pPr>
            <a:r>
              <a:rPr lang="en-AU" sz="2800" dirty="0">
                <a:solidFill>
                  <a:srgbClr val="186433"/>
                </a:solidFill>
              </a:rPr>
              <a:t>confrontational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BE7B49-BA17-458E-A064-CD8F590B4496}"/>
              </a:ext>
            </a:extLst>
          </p:cNvPr>
          <p:cNvSpPr txBox="1"/>
          <p:nvPr/>
        </p:nvSpPr>
        <p:spPr>
          <a:xfrm rot="16200000">
            <a:off x="2751543" y="-1030672"/>
            <a:ext cx="861774" cy="53733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AU" sz="4400" dirty="0">
                <a:solidFill>
                  <a:schemeClr val="accent6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Synonyms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27AD19-DE81-4D41-A8FA-CEB95F83CFD1}"/>
              </a:ext>
            </a:extLst>
          </p:cNvPr>
          <p:cNvSpPr txBox="1"/>
          <p:nvPr/>
        </p:nvSpPr>
        <p:spPr>
          <a:xfrm rot="16200000">
            <a:off x="8578685" y="-1031485"/>
            <a:ext cx="861774" cy="53733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AU" sz="4400" dirty="0">
                <a:solidFill>
                  <a:schemeClr val="accent6">
                    <a:lumMod val="5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Antonyms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10BA3-7F62-4CAD-B097-365AEA16222A}"/>
              </a:ext>
            </a:extLst>
          </p:cNvPr>
          <p:cNvSpPr txBox="1"/>
          <p:nvPr/>
        </p:nvSpPr>
        <p:spPr>
          <a:xfrm>
            <a:off x="2700391" y="457959"/>
            <a:ext cx="6791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Our Word of the Week is… </a:t>
            </a:r>
            <a:r>
              <a:rPr lang="en-AU" sz="3200" dirty="0">
                <a:solidFill>
                  <a:schemeClr val="accent2"/>
                </a:solidFill>
                <a:latin typeface="Eras Bold ITC" panose="020B0907030504020204" pitchFamily="34" charset="0"/>
              </a:rPr>
              <a:t>contentious</a:t>
            </a:r>
          </a:p>
        </p:txBody>
      </p:sp>
    </p:spTree>
    <p:extLst>
      <p:ext uri="{BB962C8B-B14F-4D97-AF65-F5344CB8AC3E}">
        <p14:creationId xmlns:p14="http://schemas.microsoft.com/office/powerpoint/2010/main" val="61129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11430</TotalTime>
  <Words>244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Aharoni</vt:lpstr>
      <vt:lpstr>Aptos</vt:lpstr>
      <vt:lpstr>Aptos Display</vt:lpstr>
      <vt:lpstr>Arial</vt:lpstr>
      <vt:lpstr>Calibri</vt:lpstr>
      <vt:lpstr>Eras Bold ITC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JANSON, Krista (kxjan3)</dc:creator>
  <cp:lastModifiedBy>SUTHERLAND, Douglas (dsuth10)</cp:lastModifiedBy>
  <cp:revision>6</cp:revision>
  <dcterms:created xsi:type="dcterms:W3CDTF">2025-09-08T06:41:49Z</dcterms:created>
  <dcterms:modified xsi:type="dcterms:W3CDTF">2025-11-09T03:18:16Z</dcterms:modified>
</cp:coreProperties>
</file>