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9295" r:id="rId2"/>
    <p:sldId id="9281" r:id="rId3"/>
    <p:sldId id="9291" r:id="rId4"/>
    <p:sldId id="91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ECEAD-EEC1-47DC-8632-DD1DE04B78C9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D27CDB-FF45-4B83-9CC2-D2E586991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1942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EFA9-53FC-6F5A-B4C1-1E12FC022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016FA-16F1-2EE6-26D2-DF1F7FA8E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FCC34-F381-669C-69E4-FC7BE6FE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F3873-EC90-42D6-3539-6BDF4D41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03852-1EAA-CED7-2BBE-DC24819F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363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3C17-554B-0818-7117-ED942716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F78DA-3A8B-4131-4112-BB889BFFF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73C95-976E-1B34-472E-9875170C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DA6D2-AB0B-C99E-D5D4-984E552F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45E4-3A44-F675-FC99-803BD99A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877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99E1-C554-BC33-05A0-7A0BA955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A7FB8-B77C-2A03-6B7A-16D5DD28F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E585C-0E73-A134-C57A-7482FEBC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E4DB9-2D78-91AC-412A-FA6B61B0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5C9F6-91A1-B6C4-42FB-6A5F700E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64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DBD6-F737-3F6E-6FF9-A80704AC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D81A2-DA63-AABB-E9EC-91A7DDF7A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8EB8F-EC5F-A99F-52A3-A108C69E7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F0CC5-A301-457C-6CBF-DAD515B3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85C2A-6F4A-7147-182E-39720261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A69ED-EF5A-66B1-590D-641FBC9A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542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BB04-5890-04E3-EB28-0AE116CB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964A6-9957-A028-42EE-C8EA076CB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59F0A-EDE6-F039-99CD-A0CCFEAF2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C57FC-ACE9-D371-3F7B-547BEFD251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FB4AA-5301-56F6-47DB-867BDFABA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D237-41CD-CAF2-9F35-46698030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96308-B164-617E-27B2-CEF0332C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6B325-6A5D-CFE5-E931-22BC994EB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557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6734-8E4B-3E7C-701E-976A7EB1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1D64E-3E42-8505-76C7-C02A020D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76E668-C558-6B1F-148A-C5006B518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46BD7-805F-C83B-F98C-CF14D18F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840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BF2C7-BE84-AE41-433D-BD5C172F2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9ADA6-9A41-AC94-12B2-850131D7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FAADE-DF36-3DB6-3813-4CB0B692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14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1D47-07D3-8C78-F83F-4D998D54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8D2F2-ACA6-1926-5EBD-A5691B4F6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DD379-2359-CAB7-BE6A-6DAF804E4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527A8-943B-7C23-7876-9EFB8606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E612C-E4F6-BEB2-E392-307E901C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88117-4666-D293-7C8E-DAF5A35C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76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3778-B752-539E-4BCC-5E72261D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7FB32-6EA1-57C8-2C7E-C1373610B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B2C39-F728-EBB3-7DF8-069BB2C54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49245-8009-C8C6-2DEA-FED11296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D21B1-CE84-65CC-7109-0F00F6C85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6C23-CDF1-697F-90BD-56276196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90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20EB-ADD0-02D0-717C-E7EDDD5F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A8A46-83F0-BECB-FEBD-C2A493243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F679C-F7DD-0528-097B-0E41749A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5B8F9-9C7A-7A0A-F4F1-9393EBA3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33D02-8887-6914-E792-A9612DBE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054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90488-7D4C-62E6-3B10-759318BC7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0D94E-B622-7E27-2DD3-9CFDAE837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8C15D-CD0B-C2A6-864D-F2B2777D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7565C-CE7E-471B-E738-42C9A8FC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3A01-A037-03F8-1040-E58F9D9A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4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0D088-12CE-20E3-6218-B5DE025D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71468-AEF3-9E94-D020-50A606DF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82F47-1239-0852-0788-DFB5BD970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2974D-B912-4807-795A-F81009B67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53058-59EE-2F75-9E07-FD94A8251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38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hape&#10;&#10;Description automatically generated">
            <a:extLst>
              <a:ext uri="{FF2B5EF4-FFF2-40B4-BE49-F238E27FC236}">
                <a16:creationId xmlns:a16="http://schemas.microsoft.com/office/drawing/2014/main" id="{A7BD080A-94B9-4DA8-929B-E53D6DFDDBA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92" b="19936"/>
          <a:stretch/>
        </p:blipFill>
        <p:spPr>
          <a:xfrm>
            <a:off x="0" y="5994400"/>
            <a:ext cx="3647440" cy="863600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DD9BD-331E-4977-9DA7-59B0FD741F41}"/>
              </a:ext>
            </a:extLst>
          </p:cNvPr>
          <p:cNvSpPr/>
          <p:nvPr/>
        </p:nvSpPr>
        <p:spPr>
          <a:xfrm>
            <a:off x="3647440" y="5994400"/>
            <a:ext cx="8537808" cy="863600"/>
          </a:xfrm>
          <a:prstGeom prst="rect">
            <a:avLst/>
          </a:prstGeom>
          <a:solidFill>
            <a:srgbClr val="186433"/>
          </a:solidFill>
          <a:ln>
            <a:solidFill>
              <a:srgbClr val="186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6DAD4-98BD-48B0-A158-DA7939C5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780" y="5468638"/>
            <a:ext cx="1733828" cy="13766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954F75-2C4A-440B-B600-16AC5600AF44}"/>
              </a:ext>
            </a:extLst>
          </p:cNvPr>
          <p:cNvSpPr/>
          <p:nvPr/>
        </p:nvSpPr>
        <p:spPr>
          <a:xfrm>
            <a:off x="1506536" y="1296737"/>
            <a:ext cx="1063005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en-AU" sz="2800" dirty="0">
              <a:solidFill>
                <a:srgbClr val="186433"/>
              </a:solidFill>
            </a:endParaRPr>
          </a:p>
          <a:p>
            <a:pPr lvl="0" algn="ctr">
              <a:defRPr/>
            </a:pPr>
            <a:endParaRPr lang="en-AU" sz="2400" b="1" dirty="0">
              <a:solidFill>
                <a:srgbClr val="18643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5CCE32-11C9-4DDF-8720-E6E6FC410143}"/>
              </a:ext>
            </a:extLst>
          </p:cNvPr>
          <p:cNvSpPr/>
          <p:nvPr/>
        </p:nvSpPr>
        <p:spPr>
          <a:xfrm>
            <a:off x="258162" y="196070"/>
            <a:ext cx="1152484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ln w="0"/>
                <a:solidFill>
                  <a:srgbClr val="18643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Revision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25247B-ED79-4662-B36F-F7D64F83660B}"/>
              </a:ext>
            </a:extLst>
          </p:cNvPr>
          <p:cNvSpPr txBox="1"/>
          <p:nvPr/>
        </p:nvSpPr>
        <p:spPr>
          <a:xfrm>
            <a:off x="1109609" y="1540276"/>
            <a:ext cx="1028991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chemeClr val="accent2"/>
                </a:solidFill>
                <a:latin typeface="Eras Bold ITC" panose="020B0907030504020204" pitchFamily="34" charset="0"/>
              </a:rPr>
              <a:t>Acknowledge: </a:t>
            </a:r>
            <a:r>
              <a:rPr lang="en-AU" sz="2800" dirty="0"/>
              <a:t>To show that you know something (for example, by nodding or speaking), to declare that something is true, or to accept what is claimed.</a:t>
            </a:r>
          </a:p>
          <a:p>
            <a:endParaRPr lang="en-AU" sz="2800" dirty="0">
              <a:solidFill>
                <a:schemeClr val="accent2"/>
              </a:solidFill>
              <a:latin typeface="Eras Bold ITC" panose="020B0907030504020204" pitchFamily="34" charset="0"/>
            </a:endParaRPr>
          </a:p>
          <a:p>
            <a:r>
              <a:rPr lang="en-AU" sz="2800" dirty="0">
                <a:solidFill>
                  <a:schemeClr val="accent2"/>
                </a:solidFill>
                <a:latin typeface="Eras Bold ITC" panose="020B0907030504020204" pitchFamily="34" charset="0"/>
              </a:rPr>
              <a:t>Ravine:</a:t>
            </a:r>
            <a:r>
              <a:rPr lang="en-AU" sz="2800" b="1" dirty="0"/>
              <a:t> </a:t>
            </a:r>
            <a:r>
              <a:rPr lang="en-AU" sz="2800" dirty="0"/>
              <a:t>A </a:t>
            </a:r>
            <a:r>
              <a:rPr lang="en-AU" sz="2800" b="1" dirty="0"/>
              <a:t>ravine</a:t>
            </a:r>
            <a:r>
              <a:rPr lang="en-AU" sz="2800" dirty="0"/>
              <a:t> is a deep, narrow valley with steep sides, often formed by running water like a small river or stream.</a:t>
            </a:r>
            <a:endParaRPr lang="en-AU" sz="280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74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hape&#10;&#10;Description automatically generated">
            <a:extLst>
              <a:ext uri="{FF2B5EF4-FFF2-40B4-BE49-F238E27FC236}">
                <a16:creationId xmlns:a16="http://schemas.microsoft.com/office/drawing/2014/main" id="{A7BD080A-94B9-4DA8-929B-E53D6DFDDBA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92" b="19936"/>
          <a:stretch/>
        </p:blipFill>
        <p:spPr>
          <a:xfrm>
            <a:off x="0" y="5994400"/>
            <a:ext cx="3647440" cy="863600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DD9BD-331E-4977-9DA7-59B0FD741F41}"/>
              </a:ext>
            </a:extLst>
          </p:cNvPr>
          <p:cNvSpPr/>
          <p:nvPr/>
        </p:nvSpPr>
        <p:spPr>
          <a:xfrm>
            <a:off x="3647440" y="5994400"/>
            <a:ext cx="8537808" cy="863600"/>
          </a:xfrm>
          <a:prstGeom prst="rect">
            <a:avLst/>
          </a:prstGeom>
          <a:solidFill>
            <a:srgbClr val="186433"/>
          </a:solidFill>
          <a:ln>
            <a:solidFill>
              <a:srgbClr val="186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6DAD4-98BD-48B0-A158-DA7939C5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780" y="5468638"/>
            <a:ext cx="1733828" cy="13766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954F75-2C4A-440B-B600-16AC5600AF44}"/>
              </a:ext>
            </a:extLst>
          </p:cNvPr>
          <p:cNvSpPr/>
          <p:nvPr/>
        </p:nvSpPr>
        <p:spPr>
          <a:xfrm>
            <a:off x="1506536" y="1296737"/>
            <a:ext cx="1063005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en-AU" sz="2800" dirty="0">
              <a:solidFill>
                <a:srgbClr val="186433"/>
              </a:solidFill>
            </a:endParaRPr>
          </a:p>
          <a:p>
            <a:pPr lvl="0" algn="ctr">
              <a:defRPr/>
            </a:pPr>
            <a:endParaRPr lang="en-AU" sz="2400" b="1" dirty="0">
              <a:solidFill>
                <a:srgbClr val="1864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0455F-BD4F-4BCD-880C-CD60D3A788CF}"/>
              </a:ext>
            </a:extLst>
          </p:cNvPr>
          <p:cNvSpPr txBox="1"/>
          <p:nvPr/>
        </p:nvSpPr>
        <p:spPr>
          <a:xfrm>
            <a:off x="2700391" y="544215"/>
            <a:ext cx="679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Our Word of the Week is… </a:t>
            </a:r>
            <a:r>
              <a:rPr lang="en-AU" sz="3200" dirty="0">
                <a:solidFill>
                  <a:schemeClr val="accent2"/>
                </a:solidFill>
                <a:latin typeface="Eras Bold ITC" panose="020B0907030504020204" pitchFamily="34" charset="0"/>
              </a:rPr>
              <a:t>adjourn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CCD46-AC45-47E3-B54D-8A3B538A88D8}"/>
              </a:ext>
            </a:extLst>
          </p:cNvPr>
          <p:cNvSpPr txBox="1"/>
          <p:nvPr/>
        </p:nvSpPr>
        <p:spPr>
          <a:xfrm rot="10800000" flipH="1" flipV="1">
            <a:off x="893852" y="1510475"/>
            <a:ext cx="10630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phonemes: </a:t>
            </a:r>
            <a:r>
              <a:rPr lang="en-AU" sz="3200" dirty="0">
                <a:solidFill>
                  <a:srgbClr val="FF0000"/>
                </a:solidFill>
              </a:rPr>
              <a:t>a</a:t>
            </a:r>
            <a:r>
              <a:rPr lang="en-AU" sz="3200" dirty="0"/>
              <a:t>d</a:t>
            </a:r>
            <a:r>
              <a:rPr lang="en-AU" sz="3200" dirty="0">
                <a:solidFill>
                  <a:srgbClr val="FF0000"/>
                </a:solidFill>
              </a:rPr>
              <a:t>j</a:t>
            </a:r>
            <a:r>
              <a:rPr lang="en-AU" sz="3200" dirty="0"/>
              <a:t>our</a:t>
            </a:r>
            <a:r>
              <a:rPr lang="en-AU" sz="320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A4FF0-427E-4A24-8724-43435B49A3D0}"/>
              </a:ext>
            </a:extLst>
          </p:cNvPr>
          <p:cNvSpPr txBox="1"/>
          <p:nvPr/>
        </p:nvSpPr>
        <p:spPr>
          <a:xfrm>
            <a:off x="893852" y="3273597"/>
            <a:ext cx="112427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Sentence: </a:t>
            </a:r>
            <a:r>
              <a:rPr lang="en-US" sz="2800" dirty="0"/>
              <a:t>The council decided to adjourn the meeting until after lunch so everyone could review the new policy.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CF37B-0520-4507-9745-189C6F330C55}"/>
              </a:ext>
            </a:extLst>
          </p:cNvPr>
          <p:cNvSpPr txBox="1"/>
          <p:nvPr/>
        </p:nvSpPr>
        <p:spPr>
          <a:xfrm>
            <a:off x="893852" y="4297878"/>
            <a:ext cx="94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Part of speech: </a:t>
            </a:r>
            <a:r>
              <a:rPr lang="en-AU" sz="2800" dirty="0"/>
              <a:t>Verb</a:t>
            </a:r>
            <a:r>
              <a:rPr lang="en-AU" sz="2800" dirty="0">
                <a:solidFill>
                  <a:schemeClr val="accent2"/>
                </a:solidFill>
              </a:rPr>
              <a:t>	</a:t>
            </a:r>
            <a:r>
              <a:rPr lang="en-AU" sz="2800" dirty="0"/>
              <a:t>		</a:t>
            </a:r>
            <a:endParaRPr lang="en-A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A7EFA-580F-4067-9B05-CAF56202699A}"/>
              </a:ext>
            </a:extLst>
          </p:cNvPr>
          <p:cNvSpPr txBox="1"/>
          <p:nvPr/>
        </p:nvSpPr>
        <p:spPr>
          <a:xfrm rot="16200000">
            <a:off x="-2496106" y="2745650"/>
            <a:ext cx="6177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480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Word of the Week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A00CC-FA9E-4C81-BFCC-CD1C136C2871}"/>
              </a:ext>
            </a:extLst>
          </p:cNvPr>
          <p:cNvSpPr txBox="1"/>
          <p:nvPr/>
        </p:nvSpPr>
        <p:spPr>
          <a:xfrm rot="10800000" flipH="1" flipV="1">
            <a:off x="893852" y="2357037"/>
            <a:ext cx="10630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syllables: </a:t>
            </a:r>
            <a:r>
              <a:rPr lang="en-AU" dirty="0">
                <a:solidFill>
                  <a:srgbClr val="CC00FF"/>
                </a:solidFill>
              </a:rPr>
              <a:t>	</a:t>
            </a:r>
            <a:r>
              <a:rPr lang="en-AU" sz="3200" dirty="0"/>
              <a:t>ad/</a:t>
            </a:r>
            <a:r>
              <a:rPr lang="en-AU" sz="3200" dirty="0" err="1"/>
              <a:t>journ</a:t>
            </a:r>
            <a:r>
              <a:rPr lang="en-AU" sz="3200" u="sng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5CC15-D9C1-467E-8B2A-C79117F8416C}"/>
              </a:ext>
            </a:extLst>
          </p:cNvPr>
          <p:cNvSpPr txBox="1"/>
          <p:nvPr/>
        </p:nvSpPr>
        <p:spPr>
          <a:xfrm>
            <a:off x="885120" y="4934910"/>
            <a:ext cx="108035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Morphology: </a:t>
            </a:r>
            <a:r>
              <a:rPr lang="en-AU" sz="2800" dirty="0">
                <a:solidFill>
                  <a:srgbClr val="CC00FF"/>
                </a:solidFill>
              </a:rPr>
              <a:t>  </a:t>
            </a:r>
            <a:r>
              <a:rPr lang="en-US" sz="2800" dirty="0">
                <a:solidFill>
                  <a:srgbClr val="FF0000"/>
                </a:solidFill>
              </a:rPr>
              <a:t>ad</a:t>
            </a:r>
            <a:r>
              <a:rPr lang="en-US" sz="2800" dirty="0"/>
              <a:t>- “to/toward” (Latin) </a:t>
            </a:r>
            <a:r>
              <a:rPr lang="en-US" sz="2800" dirty="0" err="1">
                <a:solidFill>
                  <a:srgbClr val="FF0000"/>
                </a:solidFill>
              </a:rPr>
              <a:t>journ</a:t>
            </a:r>
            <a:r>
              <a:rPr lang="en-US" sz="2800" dirty="0"/>
              <a:t> “day” (</a:t>
            </a:r>
            <a:r>
              <a:rPr lang="en-AU" sz="2800" dirty="0"/>
              <a:t>Latin)</a:t>
            </a:r>
            <a:r>
              <a:rPr lang="en-US" sz="2800" dirty="0"/>
              <a:t> </a:t>
            </a:r>
          </a:p>
          <a:p>
            <a:r>
              <a:rPr lang="en-US" sz="2800" dirty="0"/>
              <a:t>literally “put to a (later) day”</a:t>
            </a:r>
            <a:r>
              <a:rPr lang="en-AU" sz="2800" dirty="0"/>
              <a:t>		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46788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hape&#10;&#10;Description automatically generated">
            <a:extLst>
              <a:ext uri="{FF2B5EF4-FFF2-40B4-BE49-F238E27FC236}">
                <a16:creationId xmlns:a16="http://schemas.microsoft.com/office/drawing/2014/main" id="{A7BD080A-94B9-4DA8-929B-E53D6DFDDBA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92" b="19936"/>
          <a:stretch/>
        </p:blipFill>
        <p:spPr>
          <a:xfrm>
            <a:off x="0" y="5994400"/>
            <a:ext cx="3647440" cy="863600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DD9BD-331E-4977-9DA7-59B0FD741F41}"/>
              </a:ext>
            </a:extLst>
          </p:cNvPr>
          <p:cNvSpPr/>
          <p:nvPr/>
        </p:nvSpPr>
        <p:spPr>
          <a:xfrm>
            <a:off x="3647440" y="5994400"/>
            <a:ext cx="8537808" cy="863600"/>
          </a:xfrm>
          <a:prstGeom prst="rect">
            <a:avLst/>
          </a:prstGeom>
          <a:solidFill>
            <a:srgbClr val="186433"/>
          </a:solidFill>
          <a:ln>
            <a:solidFill>
              <a:srgbClr val="186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6DAD4-98BD-48B0-A158-DA7939C5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780" y="5468638"/>
            <a:ext cx="1733828" cy="13766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954F75-2C4A-440B-B600-16AC5600AF44}"/>
              </a:ext>
            </a:extLst>
          </p:cNvPr>
          <p:cNvSpPr/>
          <p:nvPr/>
        </p:nvSpPr>
        <p:spPr>
          <a:xfrm>
            <a:off x="1506536" y="1296737"/>
            <a:ext cx="1063005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en-AU" sz="2800" dirty="0">
              <a:solidFill>
                <a:srgbClr val="186433"/>
              </a:solidFill>
            </a:endParaRPr>
          </a:p>
          <a:p>
            <a:pPr lvl="0" algn="ctr">
              <a:defRPr/>
            </a:pPr>
            <a:endParaRPr lang="en-AU" sz="2400" b="1" dirty="0">
              <a:solidFill>
                <a:srgbClr val="1864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0455F-BD4F-4BCD-880C-CD60D3A788CF}"/>
              </a:ext>
            </a:extLst>
          </p:cNvPr>
          <p:cNvSpPr txBox="1"/>
          <p:nvPr/>
        </p:nvSpPr>
        <p:spPr>
          <a:xfrm>
            <a:off x="2700391" y="457959"/>
            <a:ext cx="679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Our Word of the Week is… </a:t>
            </a:r>
            <a:r>
              <a:rPr lang="en-AU" sz="3200" dirty="0">
                <a:solidFill>
                  <a:schemeClr val="accent2"/>
                </a:solidFill>
                <a:latin typeface="Eras Bold ITC" panose="020B0907030504020204" pitchFamily="34" charset="0"/>
              </a:rPr>
              <a:t>adjourn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CF37B-0520-4507-9745-189C6F330C55}"/>
              </a:ext>
            </a:extLst>
          </p:cNvPr>
          <p:cNvSpPr txBox="1"/>
          <p:nvPr/>
        </p:nvSpPr>
        <p:spPr>
          <a:xfrm>
            <a:off x="1109609" y="1911796"/>
            <a:ext cx="9822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What does it mean?  </a:t>
            </a:r>
            <a:r>
              <a:rPr lang="en-US" sz="2800" dirty="0">
                <a:solidFill>
                  <a:srgbClr val="FF0000"/>
                </a:solidFill>
              </a:rPr>
              <a:t>adjourn</a:t>
            </a:r>
            <a:r>
              <a:rPr lang="en-US" sz="2800" dirty="0"/>
              <a:t> (verb) — to suspend a meeting, court case, or other formal proceeding, either for a short break or until a later time or date, with the intention of resuming it.</a:t>
            </a:r>
            <a:r>
              <a:rPr lang="en-AU" sz="2800" dirty="0"/>
              <a:t>		</a:t>
            </a:r>
            <a:endParaRPr lang="en-A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A7EFA-580F-4067-9B05-CAF56202699A}"/>
              </a:ext>
            </a:extLst>
          </p:cNvPr>
          <p:cNvSpPr txBox="1"/>
          <p:nvPr/>
        </p:nvSpPr>
        <p:spPr>
          <a:xfrm rot="16200000">
            <a:off x="-2496106" y="2745650"/>
            <a:ext cx="6177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480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Word of the Week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1DC4C-F539-488D-9626-C3373AC4813B}"/>
              </a:ext>
            </a:extLst>
          </p:cNvPr>
          <p:cNvSpPr txBox="1"/>
          <p:nvPr/>
        </p:nvSpPr>
        <p:spPr>
          <a:xfrm>
            <a:off x="1109609" y="3703487"/>
            <a:ext cx="10325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Partner Discussion:      </a:t>
            </a:r>
            <a:r>
              <a:rPr lang="en-AU" sz="2800" dirty="0"/>
              <a:t>Discuss when you may have seen a ravine.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94649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hape&#10;&#10;Description automatically generated">
            <a:extLst>
              <a:ext uri="{FF2B5EF4-FFF2-40B4-BE49-F238E27FC236}">
                <a16:creationId xmlns:a16="http://schemas.microsoft.com/office/drawing/2014/main" id="{A7BD080A-94B9-4DA8-929B-E53D6DFDDBA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92" b="19936"/>
          <a:stretch/>
        </p:blipFill>
        <p:spPr>
          <a:xfrm>
            <a:off x="0" y="5994400"/>
            <a:ext cx="3647440" cy="863600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DD9BD-331E-4977-9DA7-59B0FD741F41}"/>
              </a:ext>
            </a:extLst>
          </p:cNvPr>
          <p:cNvSpPr/>
          <p:nvPr/>
        </p:nvSpPr>
        <p:spPr>
          <a:xfrm>
            <a:off x="3647440" y="5994400"/>
            <a:ext cx="8537808" cy="863600"/>
          </a:xfrm>
          <a:prstGeom prst="rect">
            <a:avLst/>
          </a:prstGeom>
          <a:solidFill>
            <a:srgbClr val="186433"/>
          </a:solidFill>
          <a:ln>
            <a:solidFill>
              <a:srgbClr val="186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6DAD4-98BD-48B0-A158-DA7939C5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780" y="5468638"/>
            <a:ext cx="1733828" cy="13766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954F75-2C4A-440B-B600-16AC5600AF44}"/>
              </a:ext>
            </a:extLst>
          </p:cNvPr>
          <p:cNvSpPr/>
          <p:nvPr/>
        </p:nvSpPr>
        <p:spPr>
          <a:xfrm>
            <a:off x="1614198" y="2090172"/>
            <a:ext cx="27820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postpone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defer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put off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recess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push back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E7B49-BA17-458E-A064-CD8F590B4496}"/>
              </a:ext>
            </a:extLst>
          </p:cNvPr>
          <p:cNvSpPr txBox="1"/>
          <p:nvPr/>
        </p:nvSpPr>
        <p:spPr>
          <a:xfrm rot="16200000">
            <a:off x="2751543" y="-1030672"/>
            <a:ext cx="861774" cy="53733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AU" sz="440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Synonyms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7AD19-DE81-4D41-A8FA-CEB95F83CFD1}"/>
              </a:ext>
            </a:extLst>
          </p:cNvPr>
          <p:cNvSpPr txBox="1"/>
          <p:nvPr/>
        </p:nvSpPr>
        <p:spPr>
          <a:xfrm rot="16200000">
            <a:off x="8578685" y="-1031485"/>
            <a:ext cx="861774" cy="53733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AU" sz="440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Antonyms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787D91-7549-43D8-B542-C87E2994E216}"/>
              </a:ext>
            </a:extLst>
          </p:cNvPr>
          <p:cNvSpPr/>
          <p:nvPr/>
        </p:nvSpPr>
        <p:spPr>
          <a:xfrm>
            <a:off x="6858000" y="2081118"/>
            <a:ext cx="362386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resume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reconvene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continue 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proceed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carry on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reopen</a:t>
            </a:r>
          </a:p>
          <a:p>
            <a:pPr lvl="0" algn="ctr">
              <a:defRPr/>
            </a:pPr>
            <a:endParaRPr lang="en-AU" sz="2800" dirty="0">
              <a:solidFill>
                <a:srgbClr val="18643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10BA3-7F62-4CAD-B097-365AEA16222A}"/>
              </a:ext>
            </a:extLst>
          </p:cNvPr>
          <p:cNvSpPr txBox="1"/>
          <p:nvPr/>
        </p:nvSpPr>
        <p:spPr>
          <a:xfrm>
            <a:off x="2700391" y="457959"/>
            <a:ext cx="679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Our Word of the Week is… </a:t>
            </a:r>
            <a:r>
              <a:rPr lang="en-AU" sz="3200" dirty="0">
                <a:solidFill>
                  <a:schemeClr val="accent2"/>
                </a:solidFill>
                <a:latin typeface="Eras Bold ITC" panose="020B0907030504020204" pitchFamily="34" charset="0"/>
              </a:rPr>
              <a:t>adjourn</a:t>
            </a:r>
          </a:p>
        </p:txBody>
      </p:sp>
    </p:spTree>
    <p:extLst>
      <p:ext uri="{BB962C8B-B14F-4D97-AF65-F5344CB8AC3E}">
        <p14:creationId xmlns:p14="http://schemas.microsoft.com/office/powerpoint/2010/main" val="61129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11420</TotalTime>
  <Words>230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Aharoni</vt:lpstr>
      <vt:lpstr>Aptos</vt:lpstr>
      <vt:lpstr>Aptos Display</vt:lpstr>
      <vt:lpstr>Arial</vt:lpstr>
      <vt:lpstr>Calibri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JANSON, Krista (kxjan3)</dc:creator>
  <cp:lastModifiedBy>SUTHERLAND, Douglas (dsuth10)</cp:lastModifiedBy>
  <cp:revision>5</cp:revision>
  <dcterms:created xsi:type="dcterms:W3CDTF">2025-09-08T06:41:49Z</dcterms:created>
  <dcterms:modified xsi:type="dcterms:W3CDTF">2025-11-09T02:25:12Z</dcterms:modified>
</cp:coreProperties>
</file>